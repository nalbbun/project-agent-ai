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0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1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Qwen2.5-3B-Instruct model card — https://huggingface.co/Qwen/Qwen2.5-3B-Instruct
Qwen2.5-Coder-1.5B-Instruct model card — https://huggingface.co/Qwen/Qwen2.5-Coder-1.5B-Instruct
EXAONE 3.5 2.4B Instruct model card — https://huggingface.co/LGAI-EXAONE/EXAONE-3.5-2.4B-Instruct
SmolLM3-3B model card — https://huggingface.co/HuggingFaceTB/SmolLM3-3B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Qwen2.5-3B-Instruct model card — https://huggingface.co/Qwen/Qwen2.5-3B-Instruct
Qwen2.5-Coder-1.5B-Instruct model card — https://huggingface.co/Qwen/Qwen2.5-Coder-1.5B-Instruct
EXAONE 3.5 2.4B Instruct model card — https://huggingface.co/LGAI-EXAONE/EXAONE-3.5-2.4B-Instruct
SmolLM3-3B model card — https://huggingface.co/HuggingFaceTB/SmolLM3-3B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Qwen2.5-3B-Instruct model card — https://huggingface.co/Qwen/Qwen2.5-3B-Instruct
Qwen2.5-Coder-1.5B-Instruct model card — https://huggingface.co/Qwen/Qwen2.5-Coder-1.5B-Instruct
EXAONE 3.5 2.4B Instruct model card — https://huggingface.co/LGAI-EXAONE/EXAONE-3.5-2.4B-Instruct
SmolLM3-3B model card — https://huggingface.co/HuggingFaceTB/SmolLM3-3B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Architecture recommendation synthesized from the model cards and deployment guidance in the cited model pages.
Qwen2.5-3B-Instruct model card — https://huggingface.co/Qwen/Qwen2.5-3B-Instruct
Qwen2.5-Coder-1.5B-Instruct model card — https://huggingface.co/Qwen/Qwen2.5-Coder-1.5B-Instruct
EXAONE 3.5 2.4B Instruct model card — https://huggingface.co/LGAI-EXAONE/EXAONE-3.5-2.4B-Instruct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TRL GRPO Trainer docs — https://huggingface.co/docs/trl/grpo_trainer
TRL LoRA Without Regret docs — https://huggingface.co/docs/trl/lora_without_regret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TRL GRPO Trainer docs — https://huggingface.co/docs/trl/grpo_trainer
Role-specific reward design is a synthesized recommendation based on RLHF/GRPO fine-tuning practice; validate with your own eval set.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TRL GRPO Trainer docs — https://huggingface.co/docs/trl/grpo_trainer
TRL LoRA Without Regret docs — https://huggingface.co/docs/trl/lora_without_regret
Qwen2.5-3B-Instruct model card — https://huggingface.co/Qwen/Qwen2.5-3B-Instruct
Qwen2.5-Coder-1.5B-Instruct model card — https://huggingface.co/Qwen/Qwen2.5-Coder-1.5B-Instruct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Qwen2.5-3B-Instruct model card — https://huggingface.co/Qwen/Qwen2.5-3B-Instruct
Qwen2.5-Coder-1.5B-Instruct model card — https://huggingface.co/Qwen/Qwen2.5-Coder-1.5B-Instruct
EXAONE 3.5 2.4B Instruct model card — https://huggingface.co/LGAI-EXAONE/EXAONE-3.5-2.4B-Instruct
SmolLM3-3B model card — https://huggingface.co/HuggingFaceTB/SmolLM3-3B
TRL GRPO Trainer docs — https://huggingface.co/docs/trl/grpo_trainer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108813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05840" y="1417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AI 에이전트용 SLM 추천 및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학습 전략 제안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840" y="2697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3B 이하 소형 LLM 기반 · 한국어/영어 지원 · 역할별 LoRA + GRPO 전략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3154680"/>
            <a:ext cx="1417320" cy="274320"/>
          </a:xfrm>
          <a:prstGeom prst="rect">
            <a:avLst/>
          </a:prstGeom>
          <a:solidFill>
            <a:srgbClr val="4C6FFF"/>
          </a:solidFill>
          <a:ln>
            <a:solidFill>
              <a:srgbClr val="4C6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 / Architect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06040" y="3154680"/>
            <a:ext cx="1051560" cy="274320"/>
          </a:xfrm>
          <a:prstGeom prst="rect">
            <a:avLst/>
          </a:prstGeom>
          <a:solidFill>
            <a:srgbClr val="2D9D78"/>
          </a:solidFill>
          <a:ln>
            <a:solidFill>
              <a:srgbClr val="2D9D78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0" y="3154680"/>
            <a:ext cx="105156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74920" y="3154680"/>
            <a:ext cx="1325880" cy="274320"/>
          </a:xfrm>
          <a:prstGeom prst="rect">
            <a:avLst/>
          </a:prstGeom>
          <a:solidFill>
            <a:srgbClr val="D9485F"/>
          </a:solidFill>
          <a:ln>
            <a:solidFill>
              <a:srgbClr val="D9485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3154680"/>
            <a:ext cx="1508760" cy="27432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0" y="126187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624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요구 입력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98280" y="177393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99339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939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6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98280" y="250545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72491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8254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B1B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98280" y="323697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345643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5570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9D78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98280" y="396849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418795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2885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98280" y="470001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91947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50200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485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98280" y="5431536"/>
            <a:ext cx="182880" cy="109728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5650992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7515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 메시지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5840" y="4251960"/>
            <a:ext cx="61264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범용 3B 1개 + 코드 1.5B 1개 + 역할별 LoRA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SFT를 먼저 안정화하고 이후 GRPO로 행동 품질 최적화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최종적으로는 Tool Use + RAG + Orchestrator가 성패를 좌우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추천 기본 모델 포트폴리오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한영 지원·코드 적합성·운영 난이도를 함께 고려한 시작안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91440" cy="1874520"/>
          </a:xfrm>
          <a:prstGeom prst="rect">
            <a:avLst/>
          </a:prstGeom>
          <a:solidFill>
            <a:srgbClr val="4C6FFF"/>
          </a:solidFill>
          <a:ln w="12700">
            <a:solidFill>
              <a:srgbClr val="4C6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62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① 범용 메인 베이스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5528" y="1636776"/>
            <a:ext cx="333756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Qwen2.5-3B-Instruct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설계·검증·보안·오케스트레이션에 가장 균형적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32K context, 0.5B~72B 계열 확장성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15968" y="123444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234440"/>
            <a:ext cx="9144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362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② 한국어/영어 업무형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17136" y="1636776"/>
            <a:ext cx="333756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EXAONE 3.5 2.4B Instruct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영·한 bilingual instruct, 32K context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 / Manager / 한국어 QA에 유리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37576" y="12344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37576" y="1234440"/>
            <a:ext cx="91440" cy="187452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362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③ 개발 전용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38744" y="1636776"/>
            <a:ext cx="324612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Qwen2.5-Coder-1.5B-Instruct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코드 생성·수정·리팩토링 특화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FE / BE / DB LoRA 분리에 적합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109728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선정 이유 요약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074455"/>
              </p:ext>
            </p:extLst>
          </p:nvPr>
        </p:nvGraphicFramePr>
        <p:xfrm>
          <a:off x="868680" y="3977640"/>
          <a:ext cx="9738360" cy="14447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평가 기준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우선 모델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핵심 포인트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범용성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역할 확장성이 가장 좋고 포맷 안정성이 높음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한영 업무형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EXAONE 3.5 2.4B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한국어/영어 문서형 태스크에 유리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코드 생산성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Qwen2.5-Coder-1.5B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개발 에이전트 전용 베이스로 가장 현실적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경량 추론 실험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SmolLM3-3B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3B급 reasoning 실험용 보조 후보</a:t>
                      </a:r>
                      <a:endParaRPr lang="en-US" sz="115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2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역할별 최소 모델 추천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동일 모델 일괄 적용보다 역할별 최적화 + LoRA 분리가 더 효율적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049859"/>
              </p:ext>
            </p:extLst>
          </p:nvPr>
        </p:nvGraphicFramePr>
        <p:xfrm>
          <a:off x="658368" y="1298448"/>
          <a:ext cx="10195560" cy="28712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Primary Base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Alternative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Why this fit?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PM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EXAONE 3.5 2.4B 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한영 요구 분석·문서화·질문 생성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Architect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SmolLM3-3B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구조화 설계·긴 컨텍스트·포맷 안정성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Dev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Qwen2.5-Coder-1.5B-Instruct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 + 코드 LoRA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코드 생성·수정·리팩토링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QA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EXAONE 3.5 2.4B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테스트 설계·누락 검출·회귀 관점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SecOps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SmolLM3-3B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설정·정책·YAML·인프라 보안 점검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Manager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EXAONE 3.5 2.4B 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Qwen2.5-3B-Instruct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</a:rPr>
                        <a:t>작업 분해·조정·결과 통합</a:t>
                      </a:r>
                      <a:endParaRPr lang="en-US" sz="1130" dirty="0"/>
                    </a:p>
                  </a:txBody>
                  <a:tcPr marL="41148" marR="41148" marT="41148" marB="41148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" y="45262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452628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654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운영 팁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4928616"/>
            <a:ext cx="31546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처음엔 역할 프롬프트로만 분리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성능 차이가 보이면 LoRA 분리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52544" y="45262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2544" y="4526280"/>
            <a:ext cx="91440" cy="105156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53712" y="4654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 권장 분리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53712" y="4928616"/>
            <a:ext cx="31546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Dev-FE / Dev-BE / Dev-DB 어댑터를 별도 운용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91856" y="45262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91856" y="4526280"/>
            <a:ext cx="914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4654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 판단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93024" y="4928616"/>
            <a:ext cx="31546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reward 정의가 다르므로 RL도 분리하는 편이 유리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멀티 에이전트 운영 구조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최종 목표는 “요구 입력 → 분석 → 설계 → 구현 → 검증 → 보안 → 통합”의 자동 파이프라인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09344" y="2176272"/>
            <a:ext cx="164592" cy="128016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00984" y="2176272"/>
            <a:ext cx="164592" cy="128016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4064" y="2176272"/>
            <a:ext cx="164592" cy="128016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67144" y="2176272"/>
            <a:ext cx="164592" cy="128016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0224" y="2176272"/>
            <a:ext cx="164592" cy="128016"/>
          </a:xfrm>
          <a:prstGeom prst="chevron">
            <a:avLst/>
          </a:prstGeom>
          <a:solidFill>
            <a:srgbClr val="B8C6E3"/>
          </a:solidFill>
          <a:ln w="12700">
            <a:solidFill>
              <a:srgbClr val="B8C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792" y="1874520"/>
            <a:ext cx="960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23A5E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792" y="20574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사용자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요구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20240" y="18745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2024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6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11880" y="18745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CB1B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B1B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94960" y="18745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D9D7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9D78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78040" y="18745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61120" y="187452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485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85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57094" y="3102490"/>
            <a:ext cx="2253939" cy="79285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83142" y="3232022"/>
            <a:ext cx="2227891" cy="47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 </a:t>
            </a:r>
            <a:r>
              <a:rPr lang="en-US" sz="1400" b="1" dirty="0" smtClean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/Orchestrator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04742" y="4251960"/>
            <a:ext cx="3358643" cy="83857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04743" y="4560181"/>
            <a:ext cx="3199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툴·실행 계층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5B6B8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(Sandbox / Test </a:t>
            </a:r>
            <a:r>
              <a:rPr lang="en-US" sz="1600" b="1" dirty="0" smtClean="0">
                <a:solidFill>
                  <a:srgbClr val="5B6B8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/Scan </a:t>
            </a:r>
            <a:r>
              <a:rPr lang="en-US" sz="1600" b="1" dirty="0">
                <a:solidFill>
                  <a:srgbClr val="5B6B8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/ RAG)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4836" y="3129215"/>
            <a:ext cx="4759960" cy="6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Manager는 에이전트간 순서를 조정하고, </a:t>
            </a:r>
            <a:endParaRPr lang="en-US" sz="1250" dirty="0" smtClean="0">
              <a:solidFill>
                <a:srgbClr val="1F2937"/>
              </a:solidFill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50" dirty="0" err="1" smtClean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실패</a:t>
            </a:r>
            <a:r>
              <a:rPr lang="en-US" sz="1250" dirty="0" smtClean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r>
              <a:rPr lang="en-US" sz="12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시 재시도·재질문·결과 병합을 담당합니다.</a:t>
            </a:r>
            <a:endParaRPr lang="en-US" sz="12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74316" y="5486400"/>
            <a:ext cx="1828800" cy="274320"/>
          </a:xfrm>
          <a:prstGeom prst="rect">
            <a:avLst/>
          </a:prstGeom>
          <a:solidFill>
            <a:srgbClr val="4C6FFF"/>
          </a:solidFill>
          <a:ln>
            <a:solidFill>
              <a:srgbClr val="4C6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LoRA Adapter 분리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331716" y="5486400"/>
            <a:ext cx="2103120" cy="274320"/>
          </a:xfrm>
          <a:prstGeom prst="rect">
            <a:avLst/>
          </a:prstGeom>
          <a:solidFill>
            <a:srgbClr val="2D9D78"/>
          </a:solidFill>
          <a:ln>
            <a:solidFill>
              <a:srgbClr val="2D9D78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Tool Use 연동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63436" y="5486400"/>
            <a:ext cx="1691640" cy="27432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RAG 확장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4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학습 전략: SFT → GRPO → 오케스트레이션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처음부터 RL만 시작하지 말고, 역할 준수와 형식 안정화를 먼저 확보해야 합니다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432304" y="2724912"/>
            <a:ext cx="201168" cy="146304"/>
          </a:xfrm>
          <a:prstGeom prst="chevron">
            <a:avLst/>
          </a:prstGeom>
          <a:solidFill>
            <a:srgbClr val="C7D3E9"/>
          </a:solidFill>
          <a:ln w="12700">
            <a:solidFill>
              <a:srgbClr val="C7D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1600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66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6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1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Base + Prompt</a:t>
            </a:r>
            <a:endParaRPr lang="en-US" sz="15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공통 베이스 선택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 프롬프트 분리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81144" y="2724912"/>
            <a:ext cx="201168" cy="146304"/>
          </a:xfrm>
          <a:prstGeom prst="chevron">
            <a:avLst/>
          </a:prstGeom>
          <a:solidFill>
            <a:srgbClr val="C7D3E9"/>
          </a:solidFill>
          <a:ln w="12700">
            <a:solidFill>
              <a:srgbClr val="C7D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920240"/>
            <a:ext cx="1600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2CB1B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2066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B1B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2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80360" y="2340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SFT LoRA</a:t>
            </a:r>
            <a:endParaRPr lang="en-US" sz="15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90088" y="26974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 / Architect / Dev 우선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형식·역할 안정화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9984" y="2724912"/>
            <a:ext cx="201168" cy="146304"/>
          </a:xfrm>
          <a:prstGeom prst="chevron">
            <a:avLst/>
          </a:prstGeom>
          <a:solidFill>
            <a:srgbClr val="C7D3E9"/>
          </a:solidFill>
          <a:ln w="12700">
            <a:solidFill>
              <a:srgbClr val="C7D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920240"/>
            <a:ext cx="1600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2D9D7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066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D78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3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2340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GRPO</a:t>
            </a:r>
            <a:endParaRPr lang="en-US" sz="15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38928" y="26974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 / Dev부터 reward 적용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성능 자동평가 가능한 영역 우선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78824" y="2724912"/>
            <a:ext cx="201168" cy="146304"/>
          </a:xfrm>
          <a:prstGeom prst="chevron">
            <a:avLst/>
          </a:prstGeom>
          <a:solidFill>
            <a:srgbClr val="C7D3E9"/>
          </a:solidFill>
          <a:ln w="12700">
            <a:solidFill>
              <a:srgbClr val="C7D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920240"/>
            <a:ext cx="1600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066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4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2340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Agent Orchestration</a:t>
            </a:r>
            <a:endParaRPr lang="en-US" sz="15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87768" y="26974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 기반 순서 제어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재시도·병합 루프 설계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26880" y="1920240"/>
            <a:ext cx="1600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0" y="2066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5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26880" y="2340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Production</a:t>
            </a:r>
            <a:endParaRPr lang="en-US" sz="15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36608" y="26974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RAG / Scan / Test / Patch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실무 자동화 연결</a:t>
            </a:r>
            <a:endParaRPr lang="en-US" sz="10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" y="416052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160520"/>
            <a:ext cx="91440" cy="1097280"/>
          </a:xfrm>
          <a:prstGeom prst="rect">
            <a:avLst/>
          </a:prstGeom>
          <a:solidFill>
            <a:srgbClr val="4C6FFF"/>
          </a:solidFill>
          <a:ln w="12700">
            <a:solidFill>
              <a:srgbClr val="4C6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2885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왜 SFT 선행인가?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0976" y="4690872"/>
            <a:ext cx="4846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 준수, JSON/YAML 형식, 한영 혼합 입력 처리 안정화가 </a:t>
            </a:r>
            <a:r>
              <a:rPr lang="en-US" sz="1150" dirty="0" err="1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먼저</a:t>
            </a: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r>
              <a:rPr lang="en-US" sz="1150" dirty="0" err="1" smtClean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필요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72784" y="416052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2784" y="4160520"/>
            <a:ext cx="91440" cy="109728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42885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왜 GRPO는 후행인가?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73952" y="4626864"/>
            <a:ext cx="4846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QA·Dev처럼 자동 평가가 쉬운 태스크부터 reward를 걸어야 RL 실패 확률이 낮음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5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데이터셋·Reward 설계가 성패를 좌우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모델 선정 이후 가장 먼저 해야 할 일은 역할별 데이터 스키마와 평가셋 설계입니다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91440" cy="1828800"/>
          </a:xfrm>
          <a:prstGeom prst="rect">
            <a:avLst/>
          </a:prstGeom>
          <a:solidFill>
            <a:srgbClr val="4C6FFF"/>
          </a:solidFill>
          <a:ln w="12700">
            <a:solidFill>
              <a:srgbClr val="4C6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26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데이터 스키마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1943100"/>
            <a:ext cx="3154680" cy="9431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PM: 요구사항 → 기능/비기능/질문/수용기준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Architect: 요구사항 → 시스템 구성/API/DB/ADR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Dev: 설계 → 코드/테스트/마이그레이션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61688" y="129844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98448"/>
            <a:ext cx="91440" cy="182880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426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Reward 예시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62856" y="1943100"/>
            <a:ext cx="3154680" cy="9431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형식 점수: JSON Schema 통과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실행 점수: 테스트·빌드·린트 통과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품질 점수: 누락·모순·취약점 패널티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65008" y="129844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298448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26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평가셋 권장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66176" y="1943100"/>
            <a:ext cx="3154680" cy="9431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100~300개 이상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한글·영문·혼합 입력 모두 포함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쉬움 / 중간 / 실무형 난이도 분리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493008"/>
            <a:ext cx="10881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85032"/>
            <a:ext cx="21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보상 포인트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0999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6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784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커버율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질문 품질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기능/비기능 분리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16024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B1BC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4664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설계 일관성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API-DB 정합성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흐름 연결성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88675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9D78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1260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빌드 성공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테스트 통과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린트 통과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71763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9568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결함 탐지율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경계값 다양성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누락 검출률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10821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85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7876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취약점 탐지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설정 오류 탐지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위험도 우선순위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31223" y="411514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161849" y="4343742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작업 분해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순서 제어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14300" indent="-1143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결과 병합 품질</a:t>
            </a:r>
            <a:endParaRPr lang="en-US" sz="98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6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다음으로 반드시 결정해야 할 것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" pitchFamily="34" charset="-120"/>
              </a:rPr>
              <a:t>실무형 AI 제작 시스템은 모델 선택보다 Tool Use, RAG, 평가 체계가 더 중요합니다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91440" cy="141732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08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Tool Use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1682496"/>
            <a:ext cx="320040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Sandbox · Test Runner · Linter · SAST · Dependency Scan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모델만으로는 “실행 가능한 결과물”을 보장하기 어렵습니다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4256" y="1280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28016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408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RAG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35424" y="1682496"/>
            <a:ext cx="320040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사내 규칙·아키텍처 표준·보안정책·기존 코드맥락을 검색형으로 연결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작은 모델일수록 외우기보다 찾아오게 하는 편이 유리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0144" y="1280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0144" y="128016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408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Eval Harness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1312" y="1682496"/>
            <a:ext cx="320040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평가셋·자동 채점·회귀 비교가 없으면 개선 여부 판단이 어려움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063239"/>
            <a:ext cx="10899648" cy="3107405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310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권장 기술 운영 스택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891652"/>
              </p:ext>
            </p:extLst>
          </p:nvPr>
        </p:nvGraphicFramePr>
        <p:xfrm>
          <a:off x="868680" y="3871208"/>
          <a:ext cx="434340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</a:rPr>
                        <a:t>Recommended stack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Serving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vLLM / Ollama / TGI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Adapter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PEFT LoRA / QLoRA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SFTTrainer + GRPOTrainer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Orchestration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LangGraph / custom workflow / queue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Memory &amp; Search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Vector DB + Doc store + Git context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Execution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CI sandbox / unit test / security scan</a:t>
                      </a:r>
                      <a:endParaRPr lang="en-US" sz="1110" dirty="0"/>
                    </a:p>
                  </a:txBody>
                  <a:tcPr marL="45720" marR="45720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989320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추천 초기 운영 형태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43600" y="3685032"/>
            <a:ext cx="50749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1) Qwen2.5-3B-Instruct 공통 베이스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2) Dev만 Qwen2.5-Coder-1.5B로 분리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3) 역할별 SFT LoRA 제작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4) QA/Dev부터 GRPO 적용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5) Tool Use + RAG + Manager 루프 연결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7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14400"/>
            <a:ext cx="106527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254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515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최종 추천안</a:t>
            </a:r>
            <a:endParaRPr lang="en-US" sz="2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0704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가장 현실적인 시작 조합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0519" y="2093976"/>
            <a:ext cx="506310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6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공통 메인 베이스: Qwen2.5-3B-Instruct
</a:t>
            </a:r>
            <a:r>
              <a:rPr lang="en-US" sz="1400" b="1" dirty="0">
                <a:solidFill>
                  <a:srgbClr val="7C3AED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한국어/영어 업무형: EXAONE 3.5 2.4B Instruct
</a:t>
            </a:r>
            <a:r>
              <a:rPr lang="en-US" sz="1400" b="1" dirty="0">
                <a:solidFill>
                  <a:srgbClr val="2D9D78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개발 전용: Qwen2.5-Coder-1.5B-Instruct
</a:t>
            </a:r>
            <a:r>
              <a:rPr lang="en-US" sz="14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보조 실험용: SmolLM3-3B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0" y="141732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EAF0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27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한 줄 전략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0" y="1874520"/>
            <a:ext cx="51495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3A5E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범용 3B 1개 + 코드 1.5B 1개 + 역할별 LoRA + SFT 선행 + 이후 GRPO + Tool Use + RAG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0" y="260604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2606040"/>
            <a:ext cx="91440" cy="1024128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273405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추천 실행 순서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70448" y="3155022"/>
            <a:ext cx="4754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PoC → SFT LoRA → QA/Dev GRPO → Orchestrator → Production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0" y="3794760"/>
            <a:ext cx="5074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3794760"/>
            <a:ext cx="9144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39227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다음 작업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70448" y="4197096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JSONL 스키마와 reward 정의서를 먼저 작성하면 바로 </a:t>
            </a:r>
            <a:r>
              <a:rPr lang="en-US" sz="1150" dirty="0" err="1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학습</a:t>
            </a:r>
            <a:r>
              <a:rPr lang="en-US" sz="1150" dirty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r>
              <a:rPr lang="en-US" sz="1150" dirty="0" err="1" smtClean="0">
                <a:solidFill>
                  <a:srgbClr val="1F293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파이프라인</a:t>
            </a:r>
            <a:endParaRPr lang="en-US" sz="11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8</a:t>
            </a:fld>
            <a:endParaRPr lang="en-US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913</Words>
  <Application>Microsoft Office PowerPoint</Application>
  <PresentationFormat>와이드스크린</PresentationFormat>
  <Paragraphs>232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CookieRunOTF Regular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에이전트용 SLM 추천 및 학습 전략</dc:title>
  <dc:subject>AI agent SLM recommendation</dc:subject>
  <dc:creator>OpenAI</dc:creator>
  <cp:lastModifiedBy>SanghoJi</cp:lastModifiedBy>
  <cp:revision>7</cp:revision>
  <dcterms:created xsi:type="dcterms:W3CDTF">2026-04-14T03:04:56Z</dcterms:created>
  <dcterms:modified xsi:type="dcterms:W3CDTF">2026-04-14T06:00:01Z</dcterms:modified>
</cp:coreProperties>
</file>