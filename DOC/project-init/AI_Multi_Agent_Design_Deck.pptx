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1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984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Qwen2.5-3B-Instruct model card
- Qwen2.5-Coder-1.5B-Instruct model card
- EXAONE 3.5 2.4B Instruct model card
- TRL GRPO Trainer docs
- vLLM docs
- Ollama docs
- Hugging Face TGI 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Internal synthesis based on prior model and training strategy 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Qwen2.5-3B-Instruct model card
- Qwen2.5-Coder-1.5B-Instruct model card
- EXAONE 3.5 2.4B Instruct model card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TRL GRPO Trainer 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vLLM docs
- Ollama docs
- Hugging Face TGI docs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89611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AI 멀티 에이전트 실무 설계안</a:t>
            </a:r>
            <a:endParaRPr lang="en-US" sz="2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9875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B5563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JSONL 스키마 · Reward 설계 · SFT→GRPO 파이프라인 · 배포 아키텍처</a:t>
            </a:r>
            <a:endParaRPr lang="en-US" sz="125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58368" y="2148840"/>
            <a:ext cx="5303520" cy="1143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9572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한 줄 전략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범용 3B 1개 + 코드 1.5B 1개 + 역할별 LoRA + SFT 선행 + 이후 GRPO + Tool Use + RAG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949440" y="18288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114032" y="196596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114032" y="22677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요구사항 구조화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질문·범위 정의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006840" y="182880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71432" y="196596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171432" y="226771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시스템 구성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API·DB·ADR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949440" y="30175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114032" y="315468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14032" y="345643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FE / BE / DB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코드·테스트·DDL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006840" y="301752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71432" y="315468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71432" y="345643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테스트 설계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결함 탐지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949440" y="4206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14032" y="434340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SecOps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114032" y="464515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보안 점검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인프라 하드닝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006840" y="4206240"/>
            <a:ext cx="1828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71432" y="434340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71432" y="4645152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순서 제어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재질문·병합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" y="4023360"/>
            <a:ext cx="5303520" cy="13258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4261104"/>
            <a:ext cx="1280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 포인트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68680" y="4572000"/>
            <a:ext cx="4754880" cy="640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데이터 포맷과 reward를 분리해야 RL 품질이 올라감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PoC는 Ollama, 운영은 vLLM multi-LoRA가 가장 현실적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1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1. 목표 시스템과 운영 원칙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모델보다 더 중요한 것은 역할 분리, 포맷 안정성, 자동평가, 툴 연동입니다.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566160" cy="1715589"/>
          </a:xfrm>
          <a:prstGeom prst="roundRect">
            <a:avLst>
              <a:gd name="adj" fmla="val 205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60020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최종 목표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901952"/>
            <a:ext cx="3236976" cy="384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사용자의 자연어 요구를 받아 PM → Architect → Dev → QA → SecOps → Manager 순서로 자동 처리하는 소프트웨어 제작형 AI 시스템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463040"/>
            <a:ext cx="3474720" cy="1715589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992" y="160020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 설계 원칙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07992" y="1901952"/>
            <a:ext cx="3145536" cy="384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역할별 책임을 분리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JSON/YAML/코드 중심 출력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자동 채점 가능한 데이터 우선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Tool Use와 RAG를 전제로 설계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• Manager가 상태와 순서를 제어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463040"/>
            <a:ext cx="3566160" cy="1715589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11312" y="1600200"/>
            <a:ext cx="32369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왜 이 구조가 필요한가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11312" y="1901952"/>
            <a:ext cx="3236976" cy="3840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단일 모델 하나로 분석·설계·코드·검증·보안을 모두 처리하면 포맷 붕괴, 역할 혼선, 평가 불가능성이 생깁니다. 실무형 시스템은 멀티 역할 분해가 더 안정적입니다.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2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2. 권장 베이스 모델 포트폴리오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공통 베이스 1개 + 코드 전용 1개 + 한국어/영어 업무형 보조 1개 조합이 가장 현실적입니다.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55448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Qwen2.5-3B-Instruct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856232"/>
            <a:ext cx="3328416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공통 범용 베이스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 · QA · SecOps · Manager 대안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구조화 출력과 긴 컨텍스트 안정성에 유리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79392" y="14173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43984" y="155448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Qwen2.5-Coder-1.5B-Instruct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43984" y="1856232"/>
            <a:ext cx="3328416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 전용 베이스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FE / BE / DB 코드 생성·수정·리팩토링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LoRA 분리 운용에 적합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10144" y="1417320"/>
            <a:ext cx="3657600" cy="1828800"/>
          </a:xfrm>
          <a:prstGeom prst="roundRect">
            <a:avLst>
              <a:gd name="adj" fmla="val 4000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74736" y="155448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59669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EXAONE 3.5 2.4B Instruct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74736" y="1856232"/>
            <a:ext cx="3328416" cy="1280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 · Manager · 한국어 중심 QA 보조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영어·한국어 bilingual 업무형 처리에 유리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657600"/>
            <a:ext cx="1110996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404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926080" y="3840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주력 모델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669280" y="384048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대안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0" y="38404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LoRA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713232" y="4069080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13308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2926080" y="4133088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EXAONE 2.4B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69280" y="4133088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Qwen2.5-3B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29599" y="4133087"/>
            <a:ext cx="1487837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pm-lora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13232" y="4361688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25696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2926080" y="4425696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Qwen2.5-3B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669280" y="442569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SmolLM3-3B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229599" y="4425695"/>
            <a:ext cx="1487837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architect-lora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13232" y="4654296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718304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Dev-FE/BE/DB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2926080" y="4718304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Qwen2.5-Coder-1.5B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669280" y="4718304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Qwen2.5-3B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229599" y="4718303"/>
            <a:ext cx="1487837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dev-*-lora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13232" y="4946904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5010912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QA/SecOps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2926080" y="5010912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Qwen2.5-3B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69280" y="5010912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EXAONE / SmolLM3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29599" y="5010911"/>
            <a:ext cx="1487837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 / secops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13232" y="5239512"/>
            <a:ext cx="1088136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5303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926080" y="5303520"/>
            <a:ext cx="2468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EXAONE 2.4B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669280" y="5303520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Qwen2.5-3B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599" y="5303519"/>
            <a:ext cx="1487837" cy="18287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manager-lora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3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공통 JSONL 스키마 원칙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모든 역할 데이터는 단일 역할, 검증 가능한 output, 언어 태그, 난이도 태그를 가져야 합니다.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657600" cy="4526280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55448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공통 필드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856232"/>
            <a:ext cx="3328416" cy="3977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role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lang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domain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difficulty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input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output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metadata(source/version/tags)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713232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36592" y="16642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JSONL 예시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36592" y="1938528"/>
            <a:ext cx="6583680" cy="3200400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"id": "pm-000001",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"role": "pm",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"lang": "ko",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"domain": "webapp",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"difficulty": "medium",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"input": {...},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"output": {...},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"metadata": {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"source": "human",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"version": "v1",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"tags": ["requirements", "crud"]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4. 역할별 JSONL 스키마 포인트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역할마다 input과 output의 검증 기준이 달라져야 reward 설계가 쉬워집니다.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50876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13232" y="1810512"/>
            <a:ext cx="3282696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입력: 사용자 요구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출력: 기능/비기능 요구, 질문, 범위, AC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핵심: 요구 커버율과 질문 품질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62272" y="150876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62272" y="1810512"/>
            <a:ext cx="3282696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입력: 요구사항 명세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출력: 구성, API, DB, 시퀀스, ADR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핵심: API-DB-흐름 정합성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611880" cy="2103120"/>
          </a:xfrm>
          <a:prstGeom prst="roundRect">
            <a:avLst>
              <a:gd name="adj" fmla="val 3478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11312" y="150876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Dev-FE / BE / DB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11312" y="1810512"/>
            <a:ext cx="3282696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입력: 설계와 제약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출력: 파일, 테스트, 마이그레이션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핵심: build/test/lint 자동 평가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" y="388620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13231" y="4187952"/>
            <a:ext cx="3447289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입력: 요구·설계·코드 요약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출력: 테스트 케이스, 경계값, 회귀 체크리스트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핵심: 결함 탐지율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297680" y="37490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462272" y="388620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SecOps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462271" y="4187952"/>
            <a:ext cx="3447289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입력: Dockerfile, YAML, IaC, CI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출력: 위험 항목, 하드닝, 우선순위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핵심: misconfig와 취약점 탐지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046720" y="37490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211312" y="3886200"/>
            <a:ext cx="3282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11311" y="4187952"/>
            <a:ext cx="3447289" cy="1371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입력: 사용자 요구 + 현재 상태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출력: 실행 순서, 부족 정보 질문, 병합 전략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핵심: 순서 제어와 재시도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5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5. Reward 설계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공통 reward 위에 역할별 reward를 가중합으로 얹는 방식이 가장 관리하기 쉽습니다.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0972800" cy="914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3736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R_total = w_format·R_format + w_schema·R_schema + w_completeness·R_completeness + w_consistency·R_consistency - hallucination - redundancy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" y="265176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58952" y="2788920"/>
            <a:ext cx="1728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58952" y="3090672"/>
            <a:ext cx="1728216" cy="2148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요구 커버율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비기능 분리 정확도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질문 품질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AC 품질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범위 경계 명확성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0" y="265176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953512" y="2788920"/>
            <a:ext cx="1728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953512" y="3090672"/>
            <a:ext cx="1728216" cy="2148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컴포넌트 커버리지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API-DB 정합성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시퀀스 유효성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ADR 품질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설계 일관성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983480" y="265176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148072" y="2788920"/>
            <a:ext cx="1728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48072" y="3090672"/>
            <a:ext cx="1728216" cy="2148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빌드 성공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테스트 통과율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린트 통과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타입 검사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패치 최소성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78040" y="265176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42632" y="2788920"/>
            <a:ext cx="1728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42632" y="3090672"/>
            <a:ext cx="1728216" cy="2148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결함 탐지율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경계값 다양성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추적성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회귀 적합성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재현 가능성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9372600" y="2651760"/>
            <a:ext cx="2057400" cy="2697480"/>
          </a:xfrm>
          <a:prstGeom prst="roundRect">
            <a:avLst>
              <a:gd name="adj" fmla="val 3556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37192" y="2788920"/>
            <a:ext cx="1728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SecOps / Manager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537192" y="3090672"/>
            <a:ext cx="1728216" cy="2148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취약점 탐지율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오탐 제어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조치 가능성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순서 타당성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병합 품질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6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6. 학습 파이프라인: SFT → GRPO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처음부터 RL만 시작하지 말고 SFT로 역할과 형식을 먼저 고정해야 합니다.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21792" y="150876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" y="16459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0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6384" y="1947672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데이터 준비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JSONL 정제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schema validator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train/valid/test 분리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416552" y="150876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81144" y="16459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1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81144" y="1947672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SFT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LoRA 학습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형식 안정화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구조화 출력 정착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11312" y="150876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75904" y="164592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2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75904" y="1947672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Offline Eval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schema pass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task success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role-specific metrics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" y="374904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384" y="388620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3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86384" y="4187952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GRPO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 / QA부터 적용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reward 연결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rollout + grading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416552" y="374904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581144" y="388620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4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81144" y="4187952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Simulation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 포함 체인 검증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단계별 품질 측정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11312" y="3749040"/>
            <a:ext cx="324612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75904" y="3886200"/>
            <a:ext cx="29169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Phase 5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75904" y="4187952"/>
            <a:ext cx="2916936" cy="11430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Production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adapter registry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serving / routing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observability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7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7. 데이터셋 운영과 평가 게이트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학습보다 먼저 평가셋과 통과 기준을 만들어야 개선 여부를 판단할 수 있습니다.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55448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권장 데이터 믹스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952" y="1856232"/>
            <a:ext cx="314553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실문서 정제 60%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Synthetic augmentation 20%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Self-instruct / distillation 20%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언어 비율: ko 40 / en 40 / mixed 20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07992" y="155448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난이도 설계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07992" y="1856232"/>
            <a:ext cx="314553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easy 30%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medium 50%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hard 20%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한 샘플에 두 역할 이상 섞지 않음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92440" y="1417320"/>
            <a:ext cx="3474720" cy="2148840"/>
          </a:xfrm>
          <a:prstGeom prst="roundRect">
            <a:avLst>
              <a:gd name="adj" fmla="val 3404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57032" y="1554480"/>
            <a:ext cx="31455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프로덕션 게이트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57032" y="1856232"/>
            <a:ext cx="3145536" cy="1600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schema pass &gt; 95%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role task success &gt; 85%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hallucination penalty low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regression failure 없음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94360" y="3886200"/>
            <a:ext cx="1097280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58952" y="4023360"/>
            <a:ext cx="10643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평가 핵심 지표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8952" y="4325112"/>
            <a:ext cx="10643616" cy="1143000"/>
          </a:xfrm>
          <a:prstGeom prst="rect">
            <a:avLst/>
          </a:prstGeom>
          <a:noFill/>
          <a:ln/>
        </p:spPr>
        <p:txBody>
          <a:bodyPr wrap="square" rtlCol="0" anchor="t">
            <a:normAutofit fontScale="92500" lnSpcReduction="10000"/>
          </a:bodyPr>
          <a:lstStyle/>
          <a:p>
            <a:r>
              <a:rPr lang="en-US" altLang="ko-KR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· </a:t>
            </a:r>
            <a:r>
              <a:rPr lang="en-US" sz="1600" dirty="0" smtClean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: 요구 커버율 / 질문 </a:t>
            </a:r>
            <a:r>
              <a:rPr lang="en-US" sz="1600" dirty="0" err="1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품질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 </a:t>
            </a:r>
            <a:endParaRPr lang="en-US" sz="1600" dirty="0" smtClean="0">
              <a:solidFill>
                <a:srgbClr val="374151"/>
              </a:solidFill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· 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Architect: API-DB </a:t>
            </a:r>
            <a:r>
              <a:rPr lang="en-US" sz="1600" dirty="0" err="1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정합성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 </a:t>
            </a:r>
            <a:endParaRPr lang="en-US" sz="1600" dirty="0" smtClean="0">
              <a:solidFill>
                <a:srgbClr val="374151"/>
              </a:solidFill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· 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Dev: build/test/lint/type </a:t>
            </a:r>
            <a:r>
              <a:rPr lang="en-US" sz="1600" dirty="0" err="1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성공률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 </a:t>
            </a:r>
            <a:endParaRPr lang="en-US" sz="1600" dirty="0" smtClean="0">
              <a:solidFill>
                <a:srgbClr val="374151"/>
              </a:solidFill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· 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QA: 결함 탐지율 · SecOps: misconfig </a:t>
            </a:r>
            <a:r>
              <a:rPr lang="en-US" sz="1600" dirty="0" err="1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탐지율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 </a:t>
            </a:r>
            <a:endParaRPr lang="en-US" sz="1600" dirty="0" smtClean="0">
              <a:solidFill>
                <a:srgbClr val="374151"/>
              </a:solidFill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600" dirty="0" smtClean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· </a:t>
            </a:r>
            <a:r>
              <a:rPr lang="en-US" sz="16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Manager: task ordering / merge 품질</a:t>
            </a:r>
            <a:endParaRPr lang="en-US" sz="16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8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8. 배포 아키텍처: vLLM / Ollama / TGI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PoC와 운영 단계를 분리해서 생각해야 비용과 리스크를 줄일 수 있습니다.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657600" cy="2000056"/>
          </a:xfrm>
          <a:prstGeom prst="roundRect">
            <a:avLst>
              <a:gd name="adj" fmla="val 2000"/>
            </a:avLst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55448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Ollama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952" y="1856232"/>
            <a:ext cx="3493008" cy="1561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적합: 빠른 PoC, 내부 로컬 실행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장점: 가장 단순, 진입장벽 낮음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주의: 멀티 역할 동시성·대규모 LoRA 라우팅에는 한계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권장: 역할별 모델을 별도 Modelfile로 등록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70248" y="1417320"/>
            <a:ext cx="3657600" cy="2000056"/>
          </a:xfrm>
          <a:prstGeom prst="roundRect">
            <a:avLst>
              <a:gd name="adj" fmla="val 2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34840" y="155448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vLLM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434840" y="1856232"/>
            <a:ext cx="3493008" cy="1561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적합: 프로덕션, multi-LoRA, OpenAI 호환 API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장점: 고처리량, scale-out 용이, 라우팅 친화적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주의: 운영 난이도와 메모리 설계 필요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권장: 운영 단계 1순위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946136" y="1417320"/>
            <a:ext cx="3657600" cy="200005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110728" y="1554480"/>
            <a:ext cx="3328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TGI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10728" y="1856232"/>
            <a:ext cx="3493008" cy="1561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적합: Hugging Face 중심 운영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장점: 고성능, HF 친화적, LoRA 지원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주의: 일반 멀티 에이전트 운영은 vLLM이 더 자연스러운 경우가 많음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권장: HF 중심 환경의 1순위</a:t>
            </a:r>
            <a:endParaRPr lang="en-US" sz="12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9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9. 오케스트레이터와 Tool Layer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Manager는 상태를 보고 다음 에이전트와 재시도 경로를 결정하는 제어면입니다.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58952" y="1554480"/>
            <a:ext cx="14996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User/API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8952" y="1856232"/>
            <a:ext cx="149961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자연어 요구 입력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697480" y="1417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62072" y="1554480"/>
            <a:ext cx="17282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62072" y="1856232"/>
            <a:ext cx="172821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계획 · 재질문 · 병합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74920" y="141732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9512" y="1554480"/>
            <a:ext cx="10881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PM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39512" y="1856232"/>
            <a:ext cx="108813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요구 구조화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720840" y="141732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85432" y="1554480"/>
            <a:ext cx="131673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Architect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885432" y="1856232"/>
            <a:ext cx="131673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설계 산출물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641080" y="1417320"/>
            <a:ext cx="13258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805672" y="1554480"/>
            <a:ext cx="99669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805672" y="1856232"/>
            <a:ext cx="99669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구현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0195560" y="1417320"/>
            <a:ext cx="1371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0360152" y="1554480"/>
            <a:ext cx="104241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QA/SecOps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0360152" y="1856232"/>
            <a:ext cx="1042416" cy="3200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검증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94401" y="2926080"/>
            <a:ext cx="2383639" cy="2377440"/>
          </a:xfrm>
          <a:prstGeom prst="roundRect">
            <a:avLst>
              <a:gd name="adj" fmla="val 3077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905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58993" y="3063240"/>
            <a:ext cx="136245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Tool Layer</a:t>
            </a:r>
            <a:endParaRPr lang="en-US" sz="14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958993" y="3364992"/>
            <a:ext cx="2064064" cy="18288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Sandbox / Runner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Test Runner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Lint / Type Check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SAST / Dependency Scan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RAG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Artifact Storage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Eval / Logs / Traces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4400" y="571500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실패 시 Dev 재작업, 정보 부족 시 PM 또는 사용자 재질문, 통과 시 산출물 패키징</a:t>
            </a:r>
            <a:endParaRPr lang="en-US" sz="1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10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21792"/>
            <a:ext cx="8961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11827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  <a:cs typeface="Aptos Display" pitchFamily="34" charset="-120"/>
              </a:rPr>
              <a:t>10. 실무 구현 순서</a:t>
            </a:r>
            <a:endParaRPr lang="en-US" sz="23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2920" y="969264"/>
            <a:ext cx="10881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작게 시작하고, 평가가 붙는 역할부터 RL로 확장하는 것이 가장 안전합니다.</a:t>
            </a:r>
            <a:endParaRPr lang="en-US" sz="10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3000006"/>
            <a:ext cx="10058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45635" y="28072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46219" y="2926080"/>
            <a:ext cx="16459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1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" y="3163824"/>
            <a:ext cx="11905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역할별 JSONL 200~500개씩 준비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562955" y="28072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63539" y="2926080"/>
            <a:ext cx="16459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2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75688" y="3163824"/>
            <a:ext cx="11905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schema validator와 eval harness 작성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980275" y="2807208"/>
            <a:ext cx="384048" cy="38404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80859" y="2926080"/>
            <a:ext cx="16459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3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93008" y="3163824"/>
            <a:ext cx="11905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Qwen2.5-3B / Qwen2.5-Coder-1.5B 기준 SFT LoRA 학습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397595" y="28072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8179" y="2926080"/>
            <a:ext cx="16459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4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910328" y="3163824"/>
            <a:ext cx="11905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 / QA 자동 평가 루프 구축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814915" y="280720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15499" y="2926080"/>
            <a:ext cx="16459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5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27648" y="3163824"/>
            <a:ext cx="11905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Dev → QA 순서로 GRPO 적용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32235" y="280720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32819" y="2926080"/>
            <a:ext cx="16459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6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44968" y="3163824"/>
            <a:ext cx="11905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Manager 포함 end-to-end orchestration 검증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649555" y="2807208"/>
            <a:ext cx="384048" cy="38404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50139" y="2926080"/>
            <a:ext cx="164592" cy="91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7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62288" y="3163824"/>
            <a:ext cx="119058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374151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vLLM multi-LoRA serving 전환</a:t>
            </a:r>
            <a:endParaRPr lang="en-US" sz="11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475720" y="6473952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ookieRunOTF Regular" panose="020B0600000101010101" pitchFamily="34" charset="-127"/>
                <a:ea typeface="CookieRunOTF Regular" panose="020B0600000101010101" pitchFamily="34" charset="-127"/>
              </a:rPr>
              <a:t>11</a:t>
            </a:r>
            <a:endParaRPr lang="en-US" sz="900" dirty="0">
              <a:latin typeface="CookieRunOTF Regular" panose="020B0600000101010101" pitchFamily="34" charset="-127"/>
              <a:ea typeface="CookieRunOTF Regular" panose="020B0600000101010101" pitchFamily="34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1196</Words>
  <Application>Microsoft Office PowerPoint</Application>
  <PresentationFormat>와이드스크린</PresentationFormat>
  <Paragraphs>307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8" baseType="lpstr">
      <vt:lpstr>Aptos</vt:lpstr>
      <vt:lpstr>Aptos Display</vt:lpstr>
      <vt:lpstr>CookieRunOTF Regular</vt:lpstr>
      <vt:lpstr>맑은 고딕</vt:lpstr>
      <vt:lpstr>Arial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멀티 에이전트 실무 설계안</dc:title>
  <dc:subject>AI 멀티 에이전트 실무 설계안</dc:subject>
  <dc:creator>OpenAI</dc:creator>
  <cp:lastModifiedBy>SanghoJi</cp:lastModifiedBy>
  <cp:revision>5</cp:revision>
  <dcterms:created xsi:type="dcterms:W3CDTF">2026-04-14T05:01:56Z</dcterms:created>
  <dcterms:modified xsi:type="dcterms:W3CDTF">2026-04-14T06:08:24Z</dcterms:modified>
</cp:coreProperties>
</file>